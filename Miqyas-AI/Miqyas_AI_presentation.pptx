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18872"/>
            <a:ext cx="201168" cy="6739128"/>
          </a:xfrm>
          <a:prstGeom prst="rect">
            <a:avLst/>
          </a:prstGeom>
          <a:solidFill>
            <a:srgbClr val="266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543800" y="1078992"/>
            <a:ext cx="3886200" cy="4983480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01000" y="1600200"/>
            <a:ext cx="29718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88752" y="1764792"/>
            <a:ext cx="109728" cy="420624"/>
          </a:xfrm>
          <a:prstGeom prst="rect">
            <a:avLst/>
          </a:prstGeom>
          <a:solidFill>
            <a:srgbClr val="266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83879" y="1673352"/>
            <a:ext cx="2240280" cy="237744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5F6C7F"/>
                </a:solidFill>
                <a:latin typeface="Arial"/>
              </a:rPr>
              <a:t>عرض المورد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1920240"/>
            <a:ext cx="2240280" cy="283464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700" b="1">
                <a:solidFill>
                  <a:srgbClr val="13264A"/>
                </a:solidFill>
                <a:latin typeface="Arial"/>
              </a:rPr>
              <a:t>12,500 ر.س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2633472"/>
            <a:ext cx="29718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88752" y="2798064"/>
            <a:ext cx="109728" cy="420624"/>
          </a:xfrm>
          <a:prstGeom prst="rect">
            <a:avLst/>
          </a:prstGeom>
          <a:solidFill>
            <a:srgbClr val="149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2706624"/>
            <a:ext cx="2240280" cy="237744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5F6C7F"/>
                </a:solidFill>
                <a:latin typeface="Arial"/>
              </a:rPr>
              <a:t>عرض المورد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2953512"/>
            <a:ext cx="2240280" cy="283464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700" b="1">
                <a:solidFill>
                  <a:srgbClr val="13264A"/>
                </a:solidFill>
                <a:latin typeface="Arial"/>
              </a:rPr>
              <a:t>11,900 ر.س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3666744"/>
            <a:ext cx="29718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588752" y="3831335"/>
            <a:ext cx="109728" cy="420624"/>
          </a:xfrm>
          <a:prstGeom prst="rect">
            <a:avLst/>
          </a:prstGeom>
          <a:solidFill>
            <a:srgbClr val="E6A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3739896"/>
            <a:ext cx="2240280" cy="237744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5F6C7F"/>
                </a:solidFill>
                <a:latin typeface="Arial"/>
              </a:rPr>
              <a:t>عرض المورد 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3986783"/>
            <a:ext cx="2240280" cy="283464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700" b="1">
                <a:solidFill>
                  <a:srgbClr val="13264A"/>
                </a:solidFill>
                <a:latin typeface="Arial"/>
              </a:rPr>
              <a:t>13,200 ر.س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4956048"/>
            <a:ext cx="2971800" cy="502920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668D2"/>
                </a:solidFill>
                <a:latin typeface="Arial"/>
              </a:rPr>
              <a:t>مقارنة أوضح • وقت أقل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1234440"/>
            <a:ext cx="5989320" cy="438912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2668D2"/>
                </a:solidFill>
                <a:latin typeface="Arial"/>
              </a:rPr>
              <a:t>مشروع أتمتة ومقارنة عروض الموردين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1828800"/>
            <a:ext cx="6217920" cy="1005840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3400" b="1">
                <a:solidFill>
                  <a:srgbClr val="13264A"/>
                </a:solidFill>
                <a:latin typeface="Arial"/>
              </a:rPr>
              <a:t>Miqyas AI | مِقياس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788920"/>
            <a:ext cx="6035040" cy="594360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2400" b="1">
                <a:solidFill>
                  <a:srgbClr val="2668D2"/>
                </a:solidFill>
                <a:latin typeface="Arial"/>
              </a:rPr>
              <a:t>من عروض متعددة إلى قرار أوضح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657600"/>
            <a:ext cx="5806440" cy="1097280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700" b="0">
                <a:solidFill>
                  <a:srgbClr val="263142"/>
                </a:solidFill>
                <a:latin typeface="Arial"/>
              </a:rPr>
              <a:t>تطبيق ويب ينظم بيانات الأسعار ومدد التسليم والضمانات في مكان واحد، ويساعد على تقليل العمل اليدوي وتسهيل مراجعة الخيارات.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5074920"/>
            <a:ext cx="57150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5184648"/>
            <a:ext cx="5349240" cy="420624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1">
                <a:solidFill>
                  <a:srgbClr val="5F6C7F"/>
                </a:solidFill>
                <a:latin typeface="Arial"/>
              </a:rPr>
              <a:t>التحدي: فتح ملفات متعددة، نقل البيانات، ثم مراجعتها يدويًا.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6144768"/>
            <a:ext cx="5303520" cy="256032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F6C7F"/>
                </a:solidFill>
                <a:latin typeface="Arial"/>
              </a:rPr>
              <a:t>إعداد: غير معروف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5303520" cy="201168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F6C7F"/>
                </a:solidFill>
                <a:latin typeface="Arial"/>
              </a:rPr>
              <a:t>MIQYAS AI  |  مِقياس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66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914400" cy="347472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668D2"/>
                </a:solidFill>
                <a:latin typeface="Arial"/>
              </a:rPr>
              <a:t>02 /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92608"/>
            <a:ext cx="8595360" cy="502920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2600" b="1">
                <a:solidFill>
                  <a:srgbClr val="13264A"/>
                </a:solidFill>
                <a:latin typeface="Arial"/>
              </a:rPr>
              <a:t>الأتمتة وآلية العمل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27080" y="914400"/>
            <a:ext cx="658368" cy="54864"/>
          </a:xfrm>
          <a:prstGeom prst="rect">
            <a:avLst/>
          </a:prstGeom>
          <a:solidFill>
            <a:srgbClr val="266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15568"/>
            <a:ext cx="10881360" cy="475488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>
                <a:solidFill>
                  <a:srgbClr val="5F6C7F"/>
                </a:solidFill>
                <a:latin typeface="Arial"/>
              </a:rPr>
              <a:t>بدل تكرار الخطوات يدويًا لكل مورد، ينظم مِقياس رحلة المقارنة في أربع مراحل واضحة.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2057400"/>
            <a:ext cx="2148840" cy="2487168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28048" y="2331720"/>
            <a:ext cx="731520" cy="731520"/>
          </a:xfrm>
          <a:prstGeom prst="ellipse">
            <a:avLst/>
          </a:prstGeom>
          <a:solidFill>
            <a:srgbClr val="266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46336" y="2386584"/>
            <a:ext cx="694944" cy="576072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3246120"/>
            <a:ext cx="1874519" cy="384048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3264A"/>
                </a:solidFill>
                <a:latin typeface="Arial"/>
              </a:rPr>
              <a:t>إدخال البيانات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3703320"/>
            <a:ext cx="1874519" cy="566928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F6C7F"/>
                </a:solidFill>
                <a:latin typeface="Arial"/>
              </a:rPr>
              <a:t>رفع ملفات العروض
CSV أو Excel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4251960"/>
            <a:ext cx="1874519" cy="201168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668D2"/>
                </a:solidFill>
                <a:latin typeface="Arial"/>
              </a:rPr>
              <a:t>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057400"/>
            <a:ext cx="2148840" cy="2487168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876288" y="2331720"/>
            <a:ext cx="731520" cy="731520"/>
          </a:xfrm>
          <a:prstGeom prst="ellipse">
            <a:avLst/>
          </a:prstGeom>
          <a:solidFill>
            <a:srgbClr val="149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94576" y="2386584"/>
            <a:ext cx="694944" cy="576072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246120"/>
            <a:ext cx="1874519" cy="384048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3264A"/>
                </a:solidFill>
                <a:latin typeface="Arial"/>
              </a:rPr>
              <a:t>تنظيم البيانات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703320"/>
            <a:ext cx="1874519" cy="566928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F6C7F"/>
                </a:solidFill>
                <a:latin typeface="Arial"/>
              </a:rPr>
              <a:t>قراءة البيانات
وتوحيد تنسيقها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251960"/>
            <a:ext cx="1874519" cy="201168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4948B"/>
                </a:solidFill>
                <a:latin typeface="Arial"/>
              </a:rPr>
              <a:t>02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0440" y="2057400"/>
            <a:ext cx="2148840" cy="2487168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224528" y="2331720"/>
            <a:ext cx="731520" cy="731520"/>
          </a:xfrm>
          <a:prstGeom prst="ellipse">
            <a:avLst/>
          </a:prstGeom>
          <a:solidFill>
            <a:srgbClr val="E6A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42816" y="2386584"/>
            <a:ext cx="694944" cy="576072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246120"/>
            <a:ext cx="1874519" cy="384048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3264A"/>
                </a:solidFill>
                <a:latin typeface="Arial"/>
              </a:rPr>
              <a:t>مقارنة العروض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703320"/>
            <a:ext cx="1874519" cy="566928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F6C7F"/>
                </a:solidFill>
                <a:latin typeface="Arial"/>
              </a:rPr>
              <a:t>الأسعار • التسليم
• الضمانات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251960"/>
            <a:ext cx="1874519" cy="201168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E6A62D"/>
                </a:solidFill>
                <a:latin typeface="Arial"/>
              </a:rPr>
              <a:t>03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2057400"/>
            <a:ext cx="2148840" cy="2487168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572768" y="2331720"/>
            <a:ext cx="731520" cy="731520"/>
          </a:xfrm>
          <a:prstGeom prst="ellipse">
            <a:avLst/>
          </a:prstGeom>
          <a:solidFill>
            <a:srgbClr val="13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91056" y="2386584"/>
            <a:ext cx="694944" cy="576072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39" y="3246120"/>
            <a:ext cx="1874519" cy="384048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3264A"/>
                </a:solidFill>
                <a:latin typeface="Arial"/>
              </a:rPr>
              <a:t>عرض النتائج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39" y="3703320"/>
            <a:ext cx="1874519" cy="566928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F6C7F"/>
                </a:solidFill>
                <a:latin typeface="Arial"/>
              </a:rPr>
              <a:t>إظهار الفروقات
والبيانات الناقصة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39" y="4251960"/>
            <a:ext cx="1874519" cy="201168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3264A"/>
                </a:solidFill>
                <a:latin typeface="Arial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79" y="3063240"/>
            <a:ext cx="640080" cy="411480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>
                <a:solidFill>
                  <a:srgbClr val="2668D2"/>
                </a:solidFill>
                <a:latin typeface="Arial"/>
              </a:rPr>
              <a:t>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4920" y="3063240"/>
            <a:ext cx="640080" cy="411480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>
                <a:solidFill>
                  <a:srgbClr val="2668D2"/>
                </a:solidFill>
                <a:latin typeface="Arial"/>
              </a:rPr>
              <a:t>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23160" y="3063240"/>
            <a:ext cx="640080" cy="411480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>
                <a:solidFill>
                  <a:srgbClr val="2668D2"/>
                </a:solidFill>
                <a:latin typeface="Arial"/>
              </a:rPr>
              <a:t>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5074920"/>
            <a:ext cx="10241280" cy="749808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88720" y="5193792"/>
            <a:ext cx="9692640" cy="475488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3264A"/>
                </a:solidFill>
                <a:latin typeface="Arial"/>
              </a:rPr>
              <a:t>النتيجة: بيانات موحّدة ومقارنة أسهل — مع ضرورة مراجعة النتائج قبل قرار الشراء.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73952"/>
            <a:ext cx="5303520" cy="201168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F6C7F"/>
                </a:solidFill>
                <a:latin typeface="Arial"/>
              </a:rPr>
              <a:t>MIQYAS AI  |  مِقياس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66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914400" cy="347472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668D2"/>
                </a:solidFill>
                <a:latin typeface="Arial"/>
              </a:rPr>
              <a:t>03 /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92608"/>
            <a:ext cx="8595360" cy="502920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2600" b="1">
                <a:solidFill>
                  <a:srgbClr val="13264A"/>
                </a:solidFill>
                <a:latin typeface="Arial"/>
              </a:rPr>
              <a:t>العمل اليدوي مقابل الأتمتة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27080" y="914400"/>
            <a:ext cx="658368" cy="54864"/>
          </a:xfrm>
          <a:prstGeom prst="rect">
            <a:avLst/>
          </a:prstGeom>
          <a:solidFill>
            <a:srgbClr val="266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881360" cy="347472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0">
                <a:solidFill>
                  <a:srgbClr val="5F6C7F"/>
                </a:solidFill>
                <a:latin typeface="Arial"/>
              </a:rPr>
              <a:t>مثال توضيحي يشرح كيف يتراكم الوقت مع كثرة العروض.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645920"/>
            <a:ext cx="3337560" cy="548640"/>
          </a:xfrm>
          <a:prstGeom prst="rect">
            <a:avLst/>
          </a:prstGeom>
          <a:solidFill>
            <a:srgbClr val="13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682496"/>
            <a:ext cx="3191256" cy="438912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وجه المقارنة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645920"/>
            <a:ext cx="3703320" cy="548640"/>
          </a:xfrm>
          <a:prstGeom prst="rect">
            <a:avLst/>
          </a:prstGeom>
          <a:solidFill>
            <a:srgbClr val="687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87952" y="1682496"/>
            <a:ext cx="3557015" cy="438912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العمل اليدوي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1645920"/>
            <a:ext cx="3703320" cy="548640"/>
          </a:xfrm>
          <a:prstGeom prst="rect">
            <a:avLst/>
          </a:prstGeom>
          <a:solidFill>
            <a:srgbClr val="266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91272" y="1682496"/>
            <a:ext cx="3557015" cy="438912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باستخدام مِقياس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194560"/>
            <a:ext cx="33375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231136"/>
            <a:ext cx="3154679" cy="493776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3264A"/>
                </a:solidFill>
                <a:latin typeface="Arial"/>
              </a:rPr>
              <a:t>إدخال البيانات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2194560"/>
            <a:ext cx="37033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2231136"/>
            <a:ext cx="3520439" cy="493776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263142"/>
                </a:solidFill>
                <a:latin typeface="Arial"/>
              </a:rPr>
              <a:t>نقل يدوي من الملفات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18120" y="2194560"/>
            <a:ext cx="37033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2231136"/>
            <a:ext cx="3520439" cy="493776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263142"/>
                </a:solidFill>
                <a:latin typeface="Arial"/>
              </a:rPr>
              <a:t>رفع ملفات مدعومة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761488"/>
            <a:ext cx="3337560" cy="566928"/>
          </a:xfrm>
          <a:prstGeom prst="rect">
            <a:avLst/>
          </a:prstGeom>
          <a:solidFill>
            <a:srgbClr val="F2F6FB"/>
          </a:solidFill>
          <a:ln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2798064"/>
            <a:ext cx="3154679" cy="493776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3264A"/>
                </a:solidFill>
                <a:latin typeface="Arial"/>
              </a:rPr>
              <a:t>تنظيم العروض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0" y="2761488"/>
            <a:ext cx="3703320" cy="566928"/>
          </a:xfrm>
          <a:prstGeom prst="rect">
            <a:avLst/>
          </a:prstGeom>
          <a:solidFill>
            <a:srgbClr val="F2F6FB"/>
          </a:solidFill>
          <a:ln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0" y="2798064"/>
            <a:ext cx="3520439" cy="493776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263142"/>
                </a:solidFill>
                <a:latin typeface="Arial"/>
              </a:rPr>
              <a:t>إنشاء جدول يدوي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18120" y="2761488"/>
            <a:ext cx="3703320" cy="566928"/>
          </a:xfrm>
          <a:prstGeom prst="rect">
            <a:avLst/>
          </a:prstGeom>
          <a:solidFill>
            <a:srgbClr val="F2F6FB"/>
          </a:solidFill>
          <a:ln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09560" y="2798064"/>
            <a:ext cx="3520439" cy="493776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263142"/>
                </a:solidFill>
                <a:latin typeface="Arial"/>
              </a:rPr>
              <a:t>تنظيم البيانات داخل النظام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328415"/>
            <a:ext cx="33375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364991"/>
            <a:ext cx="3154679" cy="493776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3264A"/>
                </a:solidFill>
                <a:latin typeface="Arial"/>
              </a:rPr>
              <a:t>مقارنة الأسعار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3328415"/>
            <a:ext cx="37033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6240" y="3364991"/>
            <a:ext cx="3520439" cy="493776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263142"/>
                </a:solidFill>
                <a:latin typeface="Arial"/>
              </a:rPr>
              <a:t>مراجعة كل عرض على حدة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18120" y="3328415"/>
            <a:ext cx="37033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09560" y="3364991"/>
            <a:ext cx="3520439" cy="493776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263142"/>
                </a:solidFill>
                <a:latin typeface="Arial"/>
              </a:rPr>
              <a:t>عرض موحد للفروقات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895344"/>
            <a:ext cx="3337560" cy="566928"/>
          </a:xfrm>
          <a:prstGeom prst="rect">
            <a:avLst/>
          </a:prstGeom>
          <a:solidFill>
            <a:srgbClr val="F2F6FB"/>
          </a:solidFill>
          <a:ln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3931920"/>
            <a:ext cx="3154679" cy="493776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3264A"/>
                </a:solidFill>
                <a:latin typeface="Arial"/>
              </a:rPr>
              <a:t>الوقت والجهد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0" y="3895344"/>
            <a:ext cx="3703320" cy="566928"/>
          </a:xfrm>
          <a:prstGeom prst="rect">
            <a:avLst/>
          </a:prstGeom>
          <a:solidFill>
            <a:srgbClr val="F2F6FB"/>
          </a:solidFill>
          <a:ln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06240" y="3931920"/>
            <a:ext cx="3520439" cy="493776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263142"/>
                </a:solidFill>
                <a:latin typeface="Arial"/>
              </a:rPr>
              <a:t>يزدادان مع كثرة العروض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18120" y="3895344"/>
            <a:ext cx="3703320" cy="566928"/>
          </a:xfrm>
          <a:prstGeom prst="rect">
            <a:avLst/>
          </a:prstGeom>
          <a:solidFill>
            <a:srgbClr val="F2F6FB"/>
          </a:solidFill>
          <a:ln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09560" y="3931920"/>
            <a:ext cx="3520439" cy="493776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263142"/>
                </a:solidFill>
                <a:latin typeface="Arial"/>
              </a:rPr>
              <a:t>يهدف إلى تقليل العمل المتكرر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4709160"/>
            <a:ext cx="10744200" cy="1051560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" y="4800600"/>
            <a:ext cx="2834640" cy="658368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2668D2"/>
                </a:solidFill>
                <a:latin typeface="Arial"/>
              </a:rPr>
              <a:t>8 عروض × 15 دقيقة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0" y="4800600"/>
            <a:ext cx="914400" cy="658368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5F6C7F"/>
                </a:solidFill>
                <a:latin typeface="Arial"/>
              </a:rPr>
              <a:t>=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0" y="4800600"/>
            <a:ext cx="2148840" cy="658368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13264A"/>
                </a:solidFill>
                <a:latin typeface="Arial"/>
              </a:rPr>
              <a:t>ساعتان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5160" y="4828032"/>
            <a:ext cx="4160520" cy="603504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63142"/>
                </a:solidFill>
                <a:latin typeface="Arial"/>
              </a:rPr>
              <a:t>للمراجعة الأولية يدويًا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5870448"/>
            <a:ext cx="10515600" cy="256032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F6C7F"/>
                </a:solidFill>
                <a:latin typeface="Arial"/>
              </a:rPr>
              <a:t>ملاحظة: هذا حساب افتراضي، وليس قياسًا فعليًا لسرعة التطبيق.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473952"/>
            <a:ext cx="5303520" cy="201168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F6C7F"/>
                </a:solidFill>
                <a:latin typeface="Arial"/>
              </a:rPr>
              <a:t>MIQYAS AI  |  مِقياس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66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914400" cy="347472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668D2"/>
                </a:solidFill>
                <a:latin typeface="Arial"/>
              </a:rPr>
              <a:t>04 /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92608"/>
            <a:ext cx="8595360" cy="502920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2600" b="1">
                <a:solidFill>
                  <a:srgbClr val="13264A"/>
                </a:solidFill>
                <a:latin typeface="Arial"/>
              </a:rPr>
              <a:t>المميزات والتقنيات المستخدمة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27080" y="914400"/>
            <a:ext cx="658368" cy="54864"/>
          </a:xfrm>
          <a:prstGeom prst="rect">
            <a:avLst/>
          </a:prstGeom>
          <a:solidFill>
            <a:srgbClr val="266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63640" y="1325880"/>
            <a:ext cx="4983480" cy="443484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E1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554480"/>
            <a:ext cx="4343400" cy="438912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2100" b="1">
                <a:solidFill>
                  <a:srgbClr val="13264A"/>
                </a:solidFill>
                <a:latin typeface="Arial"/>
              </a:rPr>
              <a:t>أهم المميزات</a:t>
            </a:r>
          </a:p>
        </p:txBody>
      </p:sp>
      <p:sp>
        <p:nvSpPr>
          <p:cNvPr id="8" name="Oval 7"/>
          <p:cNvSpPr/>
          <p:nvPr/>
        </p:nvSpPr>
        <p:spPr>
          <a:xfrm>
            <a:off x="10469880" y="2313432"/>
            <a:ext cx="256032" cy="256032"/>
          </a:xfrm>
          <a:prstGeom prst="ellipse">
            <a:avLst/>
          </a:prstGeom>
          <a:solidFill>
            <a:srgbClr val="149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240280"/>
            <a:ext cx="3703320" cy="438912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0">
                <a:solidFill>
                  <a:srgbClr val="263142"/>
                </a:solidFill>
                <a:latin typeface="Arial"/>
              </a:rPr>
              <a:t>مقارنة الأسعار ومدد التسليم والضمانات</a:t>
            </a:r>
          </a:p>
        </p:txBody>
      </p:sp>
      <p:sp>
        <p:nvSpPr>
          <p:cNvPr id="10" name="Oval 9"/>
          <p:cNvSpPr/>
          <p:nvPr/>
        </p:nvSpPr>
        <p:spPr>
          <a:xfrm>
            <a:off x="10469880" y="2980944"/>
            <a:ext cx="256032" cy="256032"/>
          </a:xfrm>
          <a:prstGeom prst="ellipse">
            <a:avLst/>
          </a:prstGeom>
          <a:solidFill>
            <a:srgbClr val="149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907792"/>
            <a:ext cx="3703320" cy="438912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0">
                <a:solidFill>
                  <a:srgbClr val="263142"/>
                </a:solidFill>
                <a:latin typeface="Arial"/>
              </a:rPr>
              <a:t>تنظيم البيانات وإظهار النواقص</a:t>
            </a:r>
          </a:p>
        </p:txBody>
      </p:sp>
      <p:sp>
        <p:nvSpPr>
          <p:cNvPr id="12" name="Oval 11"/>
          <p:cNvSpPr/>
          <p:nvPr/>
        </p:nvSpPr>
        <p:spPr>
          <a:xfrm>
            <a:off x="10469880" y="3648456"/>
            <a:ext cx="256032" cy="256032"/>
          </a:xfrm>
          <a:prstGeom prst="ellipse">
            <a:avLst/>
          </a:prstGeom>
          <a:solidFill>
            <a:srgbClr val="149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3575304"/>
            <a:ext cx="3703320" cy="438912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0">
                <a:solidFill>
                  <a:srgbClr val="263142"/>
                </a:solidFill>
                <a:latin typeface="Arial"/>
              </a:rPr>
              <a:t>دعم الواجهة العربية والإنجليزية</a:t>
            </a:r>
          </a:p>
        </p:txBody>
      </p:sp>
      <p:sp>
        <p:nvSpPr>
          <p:cNvPr id="14" name="Oval 13"/>
          <p:cNvSpPr/>
          <p:nvPr/>
        </p:nvSpPr>
        <p:spPr>
          <a:xfrm>
            <a:off x="10469880" y="4315968"/>
            <a:ext cx="256032" cy="256032"/>
          </a:xfrm>
          <a:prstGeom prst="ellipse">
            <a:avLst/>
          </a:prstGeom>
          <a:solidFill>
            <a:srgbClr val="149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4242816"/>
            <a:ext cx="3703320" cy="438912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0">
                <a:solidFill>
                  <a:srgbClr val="263142"/>
                </a:solidFill>
                <a:latin typeface="Arial"/>
              </a:rPr>
              <a:t>تخزين البيانات باستخدام SQLite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1325880"/>
            <a:ext cx="4983480" cy="4434840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1554480"/>
            <a:ext cx="4343400" cy="438912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2100" b="1">
                <a:solidFill>
                  <a:srgbClr val="13264A"/>
                </a:solidFill>
                <a:latin typeface="Arial"/>
              </a:rPr>
              <a:t>التقنيات المستخدمة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2148840"/>
            <a:ext cx="22402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0432" y="2176272"/>
            <a:ext cx="2103120" cy="365760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668D2"/>
                </a:solidFill>
                <a:latin typeface="Arial"/>
              </a:rPr>
              <a:t>Python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93008" y="2176272"/>
            <a:ext cx="1783080" cy="365760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263142"/>
                </a:solidFill>
                <a:latin typeface="Arial"/>
              </a:rPr>
              <a:t>معالجة البيانات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2834640"/>
            <a:ext cx="22402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70432" y="2862072"/>
            <a:ext cx="2103120" cy="365760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668D2"/>
                </a:solidFill>
                <a:latin typeface="Arial"/>
              </a:rPr>
              <a:t>Flask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93008" y="2862072"/>
            <a:ext cx="1783080" cy="365760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263142"/>
                </a:solidFill>
                <a:latin typeface="Arial"/>
              </a:rPr>
              <a:t>تطبيق الويب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3520440"/>
            <a:ext cx="22402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0432" y="3547872"/>
            <a:ext cx="2103120" cy="365760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668D2"/>
                </a:solidFill>
                <a:latin typeface="Arial"/>
              </a:rPr>
              <a:t>HTML • CSS • JavaScript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93008" y="3547872"/>
            <a:ext cx="1783080" cy="365760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263142"/>
                </a:solidFill>
                <a:latin typeface="Arial"/>
              </a:rPr>
              <a:t>الواجهة والتفاعلات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97280" y="4206240"/>
            <a:ext cx="22402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70432" y="4233672"/>
            <a:ext cx="2103120" cy="365760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668D2"/>
                </a:solidFill>
                <a:latin typeface="Arial"/>
              </a:rPr>
              <a:t>SQLite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93008" y="4233672"/>
            <a:ext cx="1783080" cy="365760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263142"/>
                </a:solidFill>
                <a:latin typeface="Arial"/>
              </a:rPr>
              <a:t>تخزين البيانات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029200"/>
            <a:ext cx="4297680" cy="457200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F6C7F"/>
                </a:solidFill>
                <a:latin typeface="Arial"/>
              </a:rPr>
              <a:t>Google Gemini API: تلخيص المعلومات عند تفعيل التكامل.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74519" y="5925312"/>
            <a:ext cx="8458200" cy="530352"/>
          </a:xfrm>
          <a:prstGeom prst="roundRect">
            <a:avLst/>
          </a:prstGeom>
          <a:solidFill>
            <a:srgbClr val="13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57400" y="5961888"/>
            <a:ext cx="8092440" cy="438912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شكرًا لكم  |  مِقياس: من عروض متعددة إلى قرار أوضح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5303520" cy="201168"/>
          </a:xfrm>
          <a:prstGeom prst="rect">
            <a:avLst/>
          </a:prstGeom>
          <a:noFill/>
        </p:spPr>
        <p:txBody>
          <a:bodyPr wrap="square" lIns="54864" rIns="54864" tIns="27432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F6C7F"/>
                </a:solidFill>
                <a:latin typeface="Arial"/>
              </a:rPr>
              <a:t>MIQYAS AI  |  مِقياس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